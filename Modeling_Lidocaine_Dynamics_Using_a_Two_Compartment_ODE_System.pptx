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7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6395"/>
  </p:normalViewPr>
  <p:slideViewPr>
    <p:cSldViewPr snapToGrid="0" snapToObjects="1">
      <p:cViewPr>
        <p:scale>
          <a:sx n="141" d="100"/>
          <a:sy n="141" d="100"/>
        </p:scale>
        <p:origin x="16" y="-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659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Peter: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“Hello, my name is Ting-Wei Chen , and this is my partner Suttana Vicharnpootorn.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our CHE 525 final project, we modeled how lidocaine moves inside the human body using a two-compartment system of ordinary differential equations.”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Peter: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“Lidocaine is a life-saving drug used for treating ventricular arrhythmia.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acts quickly, but there is a narrow safety margin.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 1.5 mg/L is effective, while around 6 mg/L can be dangerous.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patients differ in metabolism and organ perfusion, it’s very helpful to have a mathematical model that predicts how quickly lidocaine peaks, how long it stays effective, and whether a given dose risks toxicity.”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“To keep the model simple and mathematically tractable, we use a classical two-compartment pharmacokinetic model.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Lidocaine exchanges between two main regions: the tissue compartment and the bloodstream compartment.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moves back and forth with transfer rates, and is eliminated from the bloodstream at a known rate.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framework captures the essential physiology while allowing us to use linear ODE tools from class.”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First:</a:t>
                </a:r>
              </a:p>
              <a:p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“Let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 the amount of drug in the bloodstream and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amount in tissue.</a:t>
                </a:r>
                <a:br>
                  <a:rPr lang="en-US" dirty="0"/>
                </a:b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exchange is described by this pair of linear ODEs.</a:t>
                </a:r>
                <a:br>
                  <a:rPr lang="en-US" dirty="0"/>
                </a:b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 assume the drug starts in the tissue immediately after injection, so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</m:t>
                    </m:r>
                  </m:oMath>
                </a14:m>
                <a:r>
                  <a:rPr lang="ar-AE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which &lt;0</a:t>
                </a:r>
                <a:r>
                  <a:rPr lang="ar-AE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br>
                  <a:rPr lang="ar-AE" dirty="0"/>
                </a:b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Even though the model is small, it already produces realistic pharmacokinetic behavior.”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First:</a:t>
                </a:r>
              </a:p>
              <a:p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“Let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</a:t>
                </a:r>
                <a:r>
                  <a:rPr lang="ar-AE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 the amount of drug in the bloodstream and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</a:t>
                </a:r>
                <a:r>
                  <a:rPr lang="ar-AE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amount in tissue.</a:t>
                </a:r>
                <a:br>
                  <a:rPr lang="en-US" dirty="0"/>
                </a:b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exchange is described by this pair of linear ODEs.</a:t>
                </a:r>
                <a:br>
                  <a:rPr lang="en-US" dirty="0"/>
                </a:b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 assume the drug starts in the tissue immediately after injection, so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(0)=0</a:t>
                </a:r>
                <a:r>
                  <a:rPr lang="ar-AE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(0)=𝑦_0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which &lt;0</a:t>
                </a:r>
                <a:r>
                  <a:rPr lang="ar-AE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br>
                  <a:rPr lang="ar-AE" dirty="0"/>
                </a:b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Even though the model is small, it already produces realistic pharmacokinetic behavior.”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First:</a:t>
                </a:r>
              </a:p>
              <a:p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“We write the system compactly as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′</m:t>
                        </m:r>
                      </m:sup>
                    </m:sSup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𝐴𝑥</m:t>
                    </m:r>
                  </m:oMath>
                </a14:m>
                <a:r>
                  <a:rPr lang="ar-AE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where A is a 2×2 matrix.</a:t>
                </a:r>
                <a:b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Because this system is linear, the exact solution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𝐴𝑡</m:t>
                          </m:r>
                        </m:sup>
                      </m:sSup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we compute the matrix exponential using diagonalization:</a:t>
                </a:r>
                <a:b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𝑉</m:t>
                    </m:r>
                    <m:r>
                      <m:rPr>
                        <m:sty m:val="p"/>
                      </m:rPr>
                      <a:rPr lang="el-GR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Λ</m:t>
                    </m:r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</m:e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ar-AE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br>
                  <a:rPr lang="ar-AE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uses the same eigenvalue and eigenvector techniques we learned in CHE 525.”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First:</a:t>
                </a:r>
              </a:p>
              <a:p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“We write the system compactly as 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𝑥^′=𝐴𝑥</a:t>
                </a:r>
                <a:r>
                  <a:rPr lang="ar-AE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where A is a 2×2 matrix.</a:t>
                </a:r>
                <a:b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Because this system is linear, the exact solution is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(𝑡)=𝑒^𝐴𝑡 𝑥_0,</a:t>
                </a:r>
                <a:endParaRPr lang="ar-AE" dirty="0"/>
              </a:p>
              <a:p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we compute the matrix exponential using diagonalization:</a:t>
                </a:r>
                <a:b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𝐴=𝑉</a:t>
                </a:r>
                <a:r>
                  <a:rPr 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Λ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𝑉^(−1)</a:t>
                </a:r>
                <a:r>
                  <a:rPr lang="ar-AE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br>
                  <a:rPr lang="ar-AE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uses the same eigenvalue and eigenvector techniques we learned in CHE 525.”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two eigenvalues of A are both negative, but one has a much larger magnitude.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creates two time scales: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fast decay phase corresponding to drug distribution into tissues, and a slow phase corresponding to elimination.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directly explains the two 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curve of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concentration-time profiles.”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“Here we show a simulation of a single dose of 100 units.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bloodstream concentration rises quickly, peaks within a few hours, and then slowly declines over almost two days.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tissue compartment acts as a reservoir, releasing drug back into the bloodstream.”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“We also simulated doses of 50, 100, and 150.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 doses lead to higher peaks and maintain elevated bloodstream levels for longer.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this is a linear model, the peak heights scale almost proportionally with the initial dose.”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Peter: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“From these curves, we can evaluate key clinical questions: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How long does the drug remain above the therapeutic threshold?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Does a particular dose risk exceeding toxic levels?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How sensitive is the peak to small changes in dosage?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though this is a simplified two-compartment model, it captures essential pharmacokinetic effects.”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Peter: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summary, we used linear ODE systems, eigenvalues, eigenvectors, and matrix exponentials to model lidocaine distribution.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model reveals how lidocaine moves between tissues and bloodstream, how long therapeutic levels persist, and how dose size influences peak concentration and toxicity risk.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demonstrates how mathematical modeling—not just in chemistry, but using linear algebra—supports real decisions in chemical, biomedical, and clinical engineering.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1869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1433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92825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8634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7707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59264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98273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4895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7112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5354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13758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007656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0327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2688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47436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7554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28474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573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257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microsoft.com/office/2007/relationships/hdphoto" Target="../media/hdphoto1.wdp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9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9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2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8.png"/><Relationship Id="rId11" Type="http://schemas.openxmlformats.org/officeDocument/2006/relationships/image" Target="../media/image62.png"/><Relationship Id="rId5" Type="http://schemas.openxmlformats.org/officeDocument/2006/relationships/image" Target="../media/image49.png"/><Relationship Id="rId10" Type="http://schemas.openxmlformats.org/officeDocument/2006/relationships/image" Target="../media/image61.png"/><Relationship Id="rId4" Type="http://schemas.openxmlformats.org/officeDocument/2006/relationships/image" Target="../media/image57.png"/><Relationship Id="rId9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9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4.png"/><Relationship Id="rId5" Type="http://schemas.openxmlformats.org/officeDocument/2006/relationships/image" Target="../media/image49.png"/><Relationship Id="rId10" Type="http://schemas.openxmlformats.org/officeDocument/2006/relationships/image" Target="../media/image68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7.png"/><Relationship Id="rId3" Type="http://schemas.openxmlformats.org/officeDocument/2006/relationships/image" Target="../media/image9.png"/><Relationship Id="rId7" Type="http://schemas.openxmlformats.org/officeDocument/2006/relationships/image" Target="../media/image72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1.png"/><Relationship Id="rId11" Type="http://schemas.openxmlformats.org/officeDocument/2006/relationships/image" Target="../media/image12.png"/><Relationship Id="rId5" Type="http://schemas.openxmlformats.org/officeDocument/2006/relationships/image" Target="../media/image70.png"/><Relationship Id="rId15" Type="http://schemas.openxmlformats.org/officeDocument/2006/relationships/image" Target="../media/image79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0.png"/><Relationship Id="rId3" Type="http://schemas.openxmlformats.org/officeDocument/2006/relationships/image" Target="../media/image9.png"/><Relationship Id="rId7" Type="http://schemas.openxmlformats.org/officeDocument/2006/relationships/image" Target="../media/image85.png"/><Relationship Id="rId12" Type="http://schemas.openxmlformats.org/officeDocument/2006/relationships/image" Target="../media/image8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4.png"/><Relationship Id="rId11" Type="http://schemas.openxmlformats.org/officeDocument/2006/relationships/image" Target="../media/image88.png"/><Relationship Id="rId5" Type="http://schemas.openxmlformats.org/officeDocument/2006/relationships/image" Target="../media/image83.png"/><Relationship Id="rId10" Type="http://schemas.openxmlformats.org/officeDocument/2006/relationships/image" Target="../media/image87.png"/><Relationship Id="rId4" Type="http://schemas.openxmlformats.org/officeDocument/2006/relationships/image" Target="../media/image82.png"/><Relationship Id="rId9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3238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9752" y="5486400"/>
            <a:ext cx="3772495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09600" y="2095500"/>
            <a:ext cx="109728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Modeling Lidocaine Dynamics Using a Two-Compartment ODE System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-487680" y="3581400"/>
            <a:ext cx="131673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Ting-Wei Chen &amp; Suttana Vicharnpootorn</a:t>
            </a:r>
            <a:endParaRPr lang="en-US" sz="2250" dirty="0"/>
          </a:p>
        </p:txBody>
      </p:sp>
      <p:sp>
        <p:nvSpPr>
          <p:cNvPr id="9" name="Text 2"/>
          <p:cNvSpPr/>
          <p:nvPr/>
        </p:nvSpPr>
        <p:spPr>
          <a:xfrm>
            <a:off x="609600" y="4076700"/>
            <a:ext cx="1097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 525 - Final Project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4209752" y="5486400"/>
            <a:ext cx="3772495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x'(t) = -0.09x(t) + 0.038y(t)
y'(t) = 0.066x(t) - 0.038y(t)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71575"/>
            <a:ext cx="257175" cy="228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8607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433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000250"/>
            <a:ext cx="5334000" cy="3124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295650"/>
            <a:ext cx="4876800" cy="28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9329" y="2518263"/>
            <a:ext cx="1204764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6350" y="2514600"/>
            <a:ext cx="134615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96350" y="2895600"/>
            <a:ext cx="342900" cy="4572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-67056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Model Drug Distribution?</a:t>
            </a:r>
            <a:endParaRPr lang="en-US" sz="2700" dirty="0"/>
          </a:p>
        </p:txBody>
      </p:sp>
      <p:sp>
        <p:nvSpPr>
          <p:cNvPr id="12" name="Text 1"/>
          <p:cNvSpPr/>
          <p:nvPr/>
        </p:nvSpPr>
        <p:spPr>
          <a:xfrm>
            <a:off x="790575" y="1143000"/>
            <a:ext cx="6400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Treating Ventricular Arrhythmia</a:t>
            </a:r>
            <a:endParaRPr lang="en-US" sz="1800" dirty="0"/>
          </a:p>
        </p:txBody>
      </p:sp>
      <p:sp>
        <p:nvSpPr>
          <p:cNvPr id="13" name="Text 2"/>
          <p:cNvSpPr/>
          <p:nvPr/>
        </p:nvSpPr>
        <p:spPr>
          <a:xfrm>
            <a:off x="457200" y="1562100"/>
            <a:ext cx="5334000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Lidocaine is a fast-acting local anesthetic that stabilizes cardiac electrical activity, but its effectiveness depends on proper concentration in the bloodstream.</a:t>
            </a:r>
            <a:endParaRPr lang="en-US" sz="1500" dirty="0"/>
          </a:p>
        </p:txBody>
      </p:sp>
      <p:sp>
        <p:nvSpPr>
          <p:cNvPr id="14" name="Text 3"/>
          <p:cNvSpPr/>
          <p:nvPr/>
        </p:nvSpPr>
        <p:spPr>
          <a:xfrm>
            <a:off x="762000" y="2857500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Thresholds</a:t>
            </a:r>
            <a:endParaRPr lang="en-US" sz="1800" dirty="0"/>
          </a:p>
        </p:txBody>
      </p:sp>
      <p:sp>
        <p:nvSpPr>
          <p:cNvPr id="15" name="Text 4"/>
          <p:cNvSpPr/>
          <p:nvPr/>
        </p:nvSpPr>
        <p:spPr>
          <a:xfrm>
            <a:off x="495300" y="3276600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Effective concentration:</a:t>
            </a: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~1.5 mg/L</a:t>
            </a:r>
            <a:endParaRPr lang="en-US" sz="1500" dirty="0"/>
          </a:p>
        </p:txBody>
      </p:sp>
      <p:sp>
        <p:nvSpPr>
          <p:cNvPr id="16" name="Text 5"/>
          <p:cNvSpPr/>
          <p:nvPr/>
        </p:nvSpPr>
        <p:spPr>
          <a:xfrm>
            <a:off x="495300" y="3543300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DC262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Dangerous concentration:</a:t>
            </a: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~6 mg/L</a:t>
            </a:r>
            <a:endParaRPr lang="en-US" sz="1500" dirty="0"/>
          </a:p>
        </p:txBody>
      </p:sp>
      <p:sp>
        <p:nvSpPr>
          <p:cNvPr id="17" name="Text 6"/>
          <p:cNvSpPr/>
          <p:nvPr/>
        </p:nvSpPr>
        <p:spPr>
          <a:xfrm>
            <a:off x="762000" y="4114800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Prediction Needs</a:t>
            </a:r>
            <a:endParaRPr lang="en-US" sz="1800" dirty="0"/>
          </a:p>
        </p:txBody>
      </p:sp>
      <p:sp>
        <p:nvSpPr>
          <p:cNvPr id="18" name="Text 7"/>
          <p:cNvSpPr/>
          <p:nvPr/>
        </p:nvSpPr>
        <p:spPr>
          <a:xfrm>
            <a:off x="495300" y="4533900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quickly drug reaches therapeutic levels</a:t>
            </a:r>
            <a:endParaRPr lang="en-US" sz="1500" dirty="0"/>
          </a:p>
        </p:txBody>
      </p:sp>
      <p:sp>
        <p:nvSpPr>
          <p:cNvPr id="19" name="Text 8"/>
          <p:cNvSpPr/>
          <p:nvPr/>
        </p:nvSpPr>
        <p:spPr>
          <a:xfrm>
            <a:off x="495300" y="4800600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Whether a dose risks reaching toxic levels</a:t>
            </a:r>
            <a:endParaRPr lang="en-US" sz="1500" dirty="0"/>
          </a:p>
        </p:txBody>
      </p:sp>
      <p:sp>
        <p:nvSpPr>
          <p:cNvPr id="20" name="Text 9"/>
          <p:cNvSpPr/>
          <p:nvPr/>
        </p:nvSpPr>
        <p:spPr>
          <a:xfrm>
            <a:off x="495300" y="5067300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long the drug remains effective</a:t>
            </a:r>
            <a:endParaRPr lang="en-US" sz="1500" dirty="0"/>
          </a:p>
        </p:txBody>
      </p:sp>
      <p:sp>
        <p:nvSpPr>
          <p:cNvPr id="21" name="Text 10"/>
          <p:cNvSpPr/>
          <p:nvPr/>
        </p:nvSpPr>
        <p:spPr>
          <a:xfrm>
            <a:off x="6141720" y="2228850"/>
            <a:ext cx="58521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Blood Concentration Thresholds</a:t>
            </a:r>
            <a:endParaRPr lang="en-US" sz="1800" dirty="0"/>
          </a:p>
        </p:txBody>
      </p:sp>
      <p:sp>
        <p:nvSpPr>
          <p:cNvPr id="22" name="Text 11"/>
          <p:cNvSpPr/>
          <p:nvPr/>
        </p:nvSpPr>
        <p:spPr>
          <a:xfrm>
            <a:off x="6660469" y="2543175"/>
            <a:ext cx="14457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Effective Level</a:t>
            </a:r>
            <a:endParaRPr lang="en-US" sz="1050" dirty="0"/>
          </a:p>
        </p:txBody>
      </p:sp>
      <p:sp>
        <p:nvSpPr>
          <p:cNvPr id="23" name="Text 12"/>
          <p:cNvSpPr/>
          <p:nvPr/>
        </p:nvSpPr>
        <p:spPr>
          <a:xfrm>
            <a:off x="6638032" y="2847975"/>
            <a:ext cx="144571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6D7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1.5 mg/L</a:t>
            </a:r>
            <a:endParaRPr lang="en-US" sz="1050" dirty="0"/>
          </a:p>
        </p:txBody>
      </p:sp>
      <p:sp>
        <p:nvSpPr>
          <p:cNvPr id="24" name="Text 13"/>
          <p:cNvSpPr/>
          <p:nvPr/>
        </p:nvSpPr>
        <p:spPr>
          <a:xfrm>
            <a:off x="8761735" y="2533650"/>
            <a:ext cx="16153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Dangerous Level</a:t>
            </a:r>
            <a:endParaRPr lang="en-US" sz="1050" dirty="0"/>
          </a:p>
        </p:txBody>
      </p:sp>
      <p:sp>
        <p:nvSpPr>
          <p:cNvPr id="25" name="Text 14"/>
          <p:cNvSpPr/>
          <p:nvPr/>
        </p:nvSpPr>
        <p:spPr>
          <a:xfrm>
            <a:off x="8896350" y="2857500"/>
            <a:ext cx="13461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EE6C4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 mg/L</a:t>
            </a:r>
            <a:endParaRPr lang="en-US" sz="1050" dirty="0"/>
          </a:p>
        </p:txBody>
      </p:sp>
      <p:sp>
        <p:nvSpPr>
          <p:cNvPr id="26" name="Text 15"/>
          <p:cNvSpPr/>
          <p:nvPr/>
        </p:nvSpPr>
        <p:spPr>
          <a:xfrm>
            <a:off x="7353300" y="3429000"/>
            <a:ext cx="342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Patient-specific modeling needed</a:t>
            </a:r>
            <a:endParaRPr lang="en-US" sz="1350" dirty="0"/>
          </a:p>
        </p:txBody>
      </p:sp>
      <p:sp>
        <p:nvSpPr>
          <p:cNvPr id="27" name="Text 16"/>
          <p:cNvSpPr/>
          <p:nvPr/>
        </p:nvSpPr>
        <p:spPr>
          <a:xfrm>
            <a:off x="6629400" y="4210050"/>
            <a:ext cx="48768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Patients differ in body weight, metabolism, and organ perfusion, making mathematical modeling valuable for predicting drug behavior.</a:t>
            </a:r>
            <a:endParaRPr lang="en-US" sz="1200" dirty="0"/>
          </a:p>
        </p:txBody>
      </p:sp>
      <p:sp>
        <p:nvSpPr>
          <p:cNvPr id="28" name="Text 17"/>
          <p:cNvSpPr/>
          <p:nvPr/>
        </p:nvSpPr>
        <p:spPr>
          <a:xfrm>
            <a:off x="457200" y="6210300"/>
            <a:ext cx="560248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Modeling Lidocaine Dynamics Using a Two-Compartment ODE System</a:t>
            </a:r>
            <a:endParaRPr lang="en-US" sz="1050" dirty="0"/>
          </a:p>
        </p:txBody>
      </p:sp>
      <p:sp>
        <p:nvSpPr>
          <p:cNvPr id="29" name="Text 18"/>
          <p:cNvSpPr/>
          <p:nvPr/>
        </p:nvSpPr>
        <p:spPr>
          <a:xfrm>
            <a:off x="10311854" y="6210300"/>
            <a:ext cx="17075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 525 Final Project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90675"/>
            <a:ext cx="257175" cy="228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8137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562475"/>
            <a:ext cx="285750" cy="2286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-67056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Two-Compartment System Overview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790575" y="1562100"/>
            <a:ext cx="42366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Compartment Model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457200" y="1981200"/>
            <a:ext cx="353050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human body is simplified into two interacting regions:</a:t>
            </a:r>
            <a:endParaRPr lang="en-US" sz="1350" dirty="0"/>
          </a:p>
        </p:txBody>
      </p:sp>
      <p:sp>
        <p:nvSpPr>
          <p:cNvPr id="17" name="Text 3"/>
          <p:cNvSpPr/>
          <p:nvPr/>
        </p:nvSpPr>
        <p:spPr>
          <a:xfrm>
            <a:off x="495300" y="2590800"/>
            <a:ext cx="41908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Bloodstream (central compartment)</a:t>
            </a:r>
            <a:endParaRPr lang="en-US" sz="1350" dirty="0"/>
          </a:p>
        </p:txBody>
      </p:sp>
      <p:sp>
        <p:nvSpPr>
          <p:cNvPr id="18" name="Text 4"/>
          <p:cNvSpPr/>
          <p:nvPr/>
        </p:nvSpPr>
        <p:spPr>
          <a:xfrm>
            <a:off x="495300" y="2857500"/>
            <a:ext cx="41908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Body tissue (peripheral compartment)</a:t>
            </a:r>
            <a:endParaRPr lang="en-US" sz="1350" dirty="0"/>
          </a:p>
        </p:txBody>
      </p:sp>
      <p:sp>
        <p:nvSpPr>
          <p:cNvPr id="19" name="Text 5"/>
          <p:cNvSpPr/>
          <p:nvPr/>
        </p:nvSpPr>
        <p:spPr>
          <a:xfrm>
            <a:off x="762000" y="3352800"/>
            <a:ext cx="42366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Transfer Rates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495300" y="3771900"/>
            <a:ext cx="41908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0.066: Blood → Tissue transfer rate</a:t>
            </a:r>
            <a:endParaRPr lang="en-US" sz="1350" dirty="0"/>
          </a:p>
        </p:txBody>
      </p:sp>
      <p:sp>
        <p:nvSpPr>
          <p:cNvPr id="21" name="Text 7"/>
          <p:cNvSpPr/>
          <p:nvPr/>
        </p:nvSpPr>
        <p:spPr>
          <a:xfrm>
            <a:off x="495300" y="4038600"/>
            <a:ext cx="41908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0.038: Tissue → Blood transfer rate</a:t>
            </a:r>
            <a:endParaRPr lang="en-US" sz="1350" dirty="0"/>
          </a:p>
        </p:txBody>
      </p:sp>
      <p:sp>
        <p:nvSpPr>
          <p:cNvPr id="22" name="Text 8"/>
          <p:cNvSpPr/>
          <p:nvPr/>
        </p:nvSpPr>
        <p:spPr>
          <a:xfrm>
            <a:off x="819150" y="4533900"/>
            <a:ext cx="35305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Elimination</a:t>
            </a:r>
            <a:endParaRPr lang="en-US" sz="1800" dirty="0"/>
          </a:p>
        </p:txBody>
      </p:sp>
      <p:sp>
        <p:nvSpPr>
          <p:cNvPr id="23" name="Text 9"/>
          <p:cNvSpPr/>
          <p:nvPr/>
        </p:nvSpPr>
        <p:spPr>
          <a:xfrm>
            <a:off x="495300" y="4953000"/>
            <a:ext cx="349240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0.09: Elimination rate from bloodstream</a:t>
            </a:r>
            <a:endParaRPr lang="en-US" sz="1350" dirty="0"/>
          </a:p>
        </p:txBody>
      </p:sp>
      <p:sp>
        <p:nvSpPr>
          <p:cNvPr id="32" name="Text 18"/>
          <p:cNvSpPr/>
          <p:nvPr/>
        </p:nvSpPr>
        <p:spPr>
          <a:xfrm>
            <a:off x="457200" y="6210300"/>
            <a:ext cx="560248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Modeling Lidocaine Dynamics Using a Two-Compartment ODE System</a:t>
            </a:r>
            <a:endParaRPr lang="en-US" sz="1050" dirty="0"/>
          </a:p>
        </p:txBody>
      </p:sp>
      <p:sp>
        <p:nvSpPr>
          <p:cNvPr id="33" name="Text 19"/>
          <p:cNvSpPr/>
          <p:nvPr/>
        </p:nvSpPr>
        <p:spPr>
          <a:xfrm>
            <a:off x="10311854" y="6210300"/>
            <a:ext cx="17075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 525 Final Project</a:t>
            </a:r>
            <a:endParaRPr lang="en-US" sz="1050" dirty="0"/>
          </a:p>
        </p:txBody>
      </p:sp>
      <p:pic>
        <p:nvPicPr>
          <p:cNvPr id="35" name="Picture 34" descr="A diagram of blood tissue and tissue&#10;&#10;AI-generated content may be incorrect.">
            <a:extLst>
              <a:ext uri="{FF2B5EF4-FFF2-40B4-BE49-F238E27FC236}">
                <a16:creationId xmlns:a16="http://schemas.microsoft.com/office/drawing/2014/main" id="{82CD9B3B-15BE-FD56-DD2B-23E09F2B0C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3632" y="2213240"/>
            <a:ext cx="4781168" cy="2648754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7B8DC7F-4CE7-5D30-57F0-32A7D59DC00B}"/>
              </a:ext>
            </a:extLst>
          </p:cNvPr>
          <p:cNvSpPr/>
          <p:nvPr/>
        </p:nvSpPr>
        <p:spPr>
          <a:xfrm>
            <a:off x="6096000" y="2691925"/>
            <a:ext cx="3210370" cy="182292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95375"/>
            <a:ext cx="257175" cy="228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1905000"/>
            <a:ext cx="3200400" cy="5334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2590800"/>
            <a:ext cx="32004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2857500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0260" y="3716590"/>
            <a:ext cx="161080" cy="16108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0260" y="3352800"/>
            <a:ext cx="161080" cy="16108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0260" y="4144220"/>
            <a:ext cx="161080" cy="16108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Mathematical Model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790575" y="1066800"/>
            <a:ext cx="6400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Two-Compartment ODE System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457200" y="1485900"/>
            <a:ext cx="6400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of linear ODEs describing lidocaine distribution: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647700" y="1905000"/>
            <a:ext cx="6400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x'(t) = -0.09x(t) + 0.038y(t)</a:t>
            </a:r>
            <a:endParaRPr lang="en-US" sz="1800" dirty="0"/>
          </a:p>
        </p:txBody>
      </p:sp>
      <p:sp>
        <p:nvSpPr>
          <p:cNvPr id="21" name="Text 4"/>
          <p:cNvSpPr/>
          <p:nvPr/>
        </p:nvSpPr>
        <p:spPr>
          <a:xfrm>
            <a:off x="647700" y="2590800"/>
            <a:ext cx="6400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y'(t) = 0.066x(t) - 0.038y(t)</a:t>
            </a:r>
            <a:endParaRPr lang="en-US" sz="1800" dirty="0"/>
          </a:p>
        </p:txBody>
      </p:sp>
      <p:sp>
        <p:nvSpPr>
          <p:cNvPr id="22" name="Text 5"/>
          <p:cNvSpPr/>
          <p:nvPr/>
        </p:nvSpPr>
        <p:spPr>
          <a:xfrm>
            <a:off x="457200" y="33528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Variables: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495300" y="3695700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x(t):</a:t>
            </a: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amount of lidocaine in bloodstream</a:t>
            </a:r>
            <a:endParaRPr lang="en-US" sz="1350" dirty="0"/>
          </a:p>
        </p:txBody>
      </p:sp>
      <p:sp>
        <p:nvSpPr>
          <p:cNvPr id="24" name="Text 7"/>
          <p:cNvSpPr/>
          <p:nvPr/>
        </p:nvSpPr>
        <p:spPr>
          <a:xfrm>
            <a:off x="495300" y="3962400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y(t):</a:t>
            </a: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amount of lidocaine in tissue</a:t>
            </a:r>
            <a:endParaRPr lang="en-US" sz="1350" dirty="0"/>
          </a:p>
        </p:txBody>
      </p:sp>
      <p:sp>
        <p:nvSpPr>
          <p:cNvPr id="25" name="Text 8"/>
          <p:cNvSpPr/>
          <p:nvPr/>
        </p:nvSpPr>
        <p:spPr>
          <a:xfrm>
            <a:off x="457200" y="43815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Initial Condition: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685800" y="4724400"/>
            <a:ext cx="6126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D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x(0) = 0,</a:t>
            </a:r>
            <a:r>
              <a:rPr lang="en-US" sz="1350" dirty="0">
                <a:solidFill>
                  <a:srgbClr val="0D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350" b="1" dirty="0">
                <a:solidFill>
                  <a:srgbClr val="0D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y(0) &lt;</a:t>
            </a:r>
            <a:r>
              <a:rPr lang="en-US" sz="1013" b="1" dirty="0">
                <a:solidFill>
                  <a:srgbClr val="0D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400" b="1" dirty="0">
                <a:solidFill>
                  <a:srgbClr val="0D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</a:t>
            </a:r>
            <a:r>
              <a:rPr lang="en-US" sz="1350" dirty="0">
                <a:solidFill>
                  <a:srgbClr val="0D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(injection dose)</a:t>
            </a:r>
            <a:endParaRPr lang="en-US" sz="1350" dirty="0"/>
          </a:p>
        </p:txBody>
      </p:sp>
      <p:sp>
        <p:nvSpPr>
          <p:cNvPr id="27" name="Text 10"/>
          <p:cNvSpPr/>
          <p:nvPr/>
        </p:nvSpPr>
        <p:spPr>
          <a:xfrm>
            <a:off x="6572250" y="2825187"/>
            <a:ext cx="6400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Parameter Interpretation</a:t>
            </a:r>
            <a:endParaRPr lang="en-US" sz="1800" dirty="0"/>
          </a:p>
        </p:txBody>
      </p:sp>
      <p:sp>
        <p:nvSpPr>
          <p:cNvPr id="28" name="Text 11"/>
          <p:cNvSpPr/>
          <p:nvPr/>
        </p:nvSpPr>
        <p:spPr>
          <a:xfrm>
            <a:off x="6572250" y="3276600"/>
            <a:ext cx="37969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0.066 → transfer from blood → tissue</a:t>
            </a:r>
            <a:endParaRPr lang="en-US" sz="1350" dirty="0"/>
          </a:p>
        </p:txBody>
      </p:sp>
      <p:sp>
        <p:nvSpPr>
          <p:cNvPr id="29" name="Text 12"/>
          <p:cNvSpPr/>
          <p:nvPr/>
        </p:nvSpPr>
        <p:spPr>
          <a:xfrm>
            <a:off x="6572250" y="3657600"/>
            <a:ext cx="37969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0.038 → transfer from tissue → blood</a:t>
            </a:r>
            <a:endParaRPr lang="en-US" sz="1350" dirty="0"/>
          </a:p>
        </p:txBody>
      </p:sp>
      <p:sp>
        <p:nvSpPr>
          <p:cNvPr id="30" name="Text 13"/>
          <p:cNvSpPr/>
          <p:nvPr/>
        </p:nvSpPr>
        <p:spPr>
          <a:xfrm>
            <a:off x="6572250" y="4076700"/>
            <a:ext cx="30900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0.09 → elimination from blood</a:t>
            </a:r>
            <a:endParaRPr lang="en-US" sz="1350" dirty="0"/>
          </a:p>
        </p:txBody>
      </p:sp>
      <p:sp>
        <p:nvSpPr>
          <p:cNvPr id="39" name="Text 22"/>
          <p:cNvSpPr/>
          <p:nvPr/>
        </p:nvSpPr>
        <p:spPr>
          <a:xfrm>
            <a:off x="457200" y="6210300"/>
            <a:ext cx="560248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Modeling Lidocaine Dynamics Using a Two-Compartment ODE System</a:t>
            </a:r>
            <a:endParaRPr lang="en-US" sz="1050" dirty="0"/>
          </a:p>
        </p:txBody>
      </p:sp>
      <p:sp>
        <p:nvSpPr>
          <p:cNvPr id="40" name="Text 23"/>
          <p:cNvSpPr/>
          <p:nvPr/>
        </p:nvSpPr>
        <p:spPr>
          <a:xfrm>
            <a:off x="10311854" y="6210300"/>
            <a:ext cx="17075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 525 Final Project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95375"/>
            <a:ext cx="200025" cy="228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85899"/>
            <a:ext cx="5334000" cy="11144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695575"/>
            <a:ext cx="1714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086100"/>
            <a:ext cx="5334000" cy="2190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09537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485900"/>
            <a:ext cx="2837468" cy="6286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2371725"/>
            <a:ext cx="28575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2762250"/>
            <a:ext cx="5334000" cy="1600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3295650"/>
            <a:ext cx="1600200" cy="914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7700" y="3295650"/>
            <a:ext cx="1600200" cy="914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82200" y="3295650"/>
            <a:ext cx="1600200" cy="9144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-67056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Matrix Form and Solution Method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733425" y="1066800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Matrix Form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2"/>
              <p:cNvSpPr/>
              <p:nvPr/>
            </p:nvSpPr>
            <p:spPr>
              <a:xfrm>
                <a:off x="609600" y="1638300"/>
                <a:ext cx="5029200" cy="295275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ctr">
                  <a:lnSpc>
                    <a:spcPts val="21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𝑥</m:t>
                      </m:r>
                      <m:r>
                        <a:rPr lang="en-US" sz="1500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′(</m:t>
                      </m:r>
                      <m:r>
                        <a:rPr lang="en-US" sz="1500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𝑡</m:t>
                      </m:r>
                      <m:r>
                        <a:rPr lang="en-US" sz="1500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) = </m:t>
                      </m:r>
                      <m:r>
                        <a:rPr lang="en-US" sz="1500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𝐴𝑥</m:t>
                      </m:r>
                      <m:r>
                        <a:rPr lang="en-US" sz="1500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(</m:t>
                      </m:r>
                      <m:r>
                        <a:rPr lang="en-US" sz="1500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𝑡</m:t>
                      </m:r>
                      <m:r>
                        <a:rPr lang="en-US" sz="1500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38300"/>
                <a:ext cx="5029200" cy="295275"/>
              </a:xfrm>
              <a:prstGeom prst="rect">
                <a:avLst/>
              </a:prstGeom>
              <a:blipFill>
                <a:blip r:embed="rId13"/>
                <a:stretch>
                  <a:fillRect t="-12500" b="-25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3"/>
              <p:cNvSpPr/>
              <p:nvPr/>
            </p:nvSpPr>
            <p:spPr>
              <a:xfrm>
                <a:off x="609600" y="2009775"/>
                <a:ext cx="5029200" cy="276225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ctr">
                  <a:lnSpc>
                    <a:spcPts val="2100"/>
                  </a:lnSpc>
                  <a:buNone/>
                </a:pPr>
                <a:r>
                  <a:rPr lang="en-US" sz="1350" dirty="0">
                    <a:solidFill>
                      <a:srgbClr val="4B5563"/>
                    </a:solidFill>
                    <a:latin typeface="ui-sans-serif" pitchFamily="34" charset="0"/>
                    <a:ea typeface="ui-sans-serif" pitchFamily="34" charset="-122"/>
                    <a:cs typeface="ui-sans-serif" pitchFamily="34" charset="-120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350">
                        <a:solidFill>
                          <a:srgbClr val="0F766E"/>
                        </a:solidFill>
                        <a:latin typeface="Cambria Math" panose="02040503050406030204" pitchFamily="18" charset="0"/>
                        <a:ea typeface="ui-monospace" pitchFamily="34" charset="-122"/>
                      </a:rPr>
                      <m:t>x</m:t>
                    </m:r>
                    <m:d>
                      <m:dPr>
                        <m:ctrlPr>
                          <a:rPr lang="en-US" sz="1350" b="0" i="1" smtClean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  <a:ea typeface="ui-monospace" pitchFamily="34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350" b="0" i="0" smtClean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  <a:ea typeface="ui-monospace" pitchFamily="34" charset="-122"/>
                          </a:rPr>
                          <m:t>t</m:t>
                        </m:r>
                      </m:e>
                    </m:d>
                    <m:r>
                      <a:rPr lang="en-US" sz="1350" b="0" i="0" smtClean="0">
                        <a:solidFill>
                          <a:srgbClr val="0F766E"/>
                        </a:solidFill>
                        <a:latin typeface="Cambria Math" panose="02040503050406030204" pitchFamily="18" charset="0"/>
                        <a:ea typeface="ui-monospace" pitchFamily="34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350" i="1" smtClean="0">
                            <a:solidFill>
                              <a:srgbClr val="0F766E"/>
                            </a:solidFill>
                            <a:latin typeface="Cambria Math" panose="02040503050406030204" pitchFamily="18" charset="0"/>
                            <a:ea typeface="ui-monospace" pitchFamily="34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1350" i="1" smtClean="0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  <a:ea typeface="ui-monospace" pitchFamily="34" charset="-122"/>
                              </a:rPr>
                            </m:ctrlPr>
                          </m:fPr>
                          <m:num>
                            <m:r>
                              <a:rPr lang="en-US" sz="1350" b="0" i="1" smtClean="0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  <a:ea typeface="ui-monospace" pitchFamily="34" charset="-122"/>
                              </a:rPr>
                              <m:t>𝑥</m:t>
                            </m:r>
                            <m:r>
                              <a:rPr lang="en-US" sz="1350" b="0" i="1" smtClean="0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  <a:ea typeface="ui-monospace" pitchFamily="34" charset="-122"/>
                              </a:rPr>
                              <m:t>(</m:t>
                            </m:r>
                            <m:r>
                              <a:rPr lang="en-US" sz="1350" b="0" i="1" smtClean="0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  <a:ea typeface="ui-monospace" pitchFamily="34" charset="-122"/>
                              </a:rPr>
                              <m:t>𝑡</m:t>
                            </m:r>
                            <m:r>
                              <a:rPr lang="en-US" sz="1350" b="0" i="1" smtClean="0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  <a:ea typeface="ui-monospace" pitchFamily="34" charset="-122"/>
                              </a:rPr>
                              <m:t>)</m:t>
                            </m:r>
                          </m:num>
                          <m:den>
                            <m:r>
                              <a:rPr lang="en-US" sz="1350" b="0" i="1" smtClean="0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  <a:ea typeface="ui-monospace" pitchFamily="34" charset="-122"/>
                              </a:rPr>
                              <m:t>𝑦</m:t>
                            </m:r>
                            <m:r>
                              <a:rPr lang="en-US" sz="1350" b="0" i="1" smtClean="0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  <a:ea typeface="ui-monospace" pitchFamily="34" charset="-122"/>
                              </a:rPr>
                              <m:t>(</m:t>
                            </m:r>
                            <m:r>
                              <a:rPr lang="en-US" sz="1350" b="0" i="1" smtClean="0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  <a:ea typeface="ui-monospace" pitchFamily="34" charset="-122"/>
                              </a:rPr>
                              <m:t>𝑡</m:t>
                            </m:r>
                            <m:r>
                              <a:rPr lang="en-US" sz="1350" b="0" i="1" smtClean="0">
                                <a:solidFill>
                                  <a:srgbClr val="0F766E"/>
                                </a:solidFill>
                                <a:latin typeface="Cambria Math" panose="02040503050406030204" pitchFamily="18" charset="0"/>
                                <a:ea typeface="ui-monospace" pitchFamily="34" charset="-122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endParaRPr lang="en-US" sz="1350" dirty="0"/>
              </a:p>
            </p:txBody>
          </p:sp>
        </mc:Choice>
        <mc:Fallback xmlns="">
          <p:sp>
            <p:nvSpPr>
              <p:cNvPr id="17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09775"/>
                <a:ext cx="5029200" cy="276225"/>
              </a:xfrm>
              <a:prstGeom prst="rect">
                <a:avLst/>
              </a:prstGeom>
              <a:blipFill>
                <a:blip r:embed="rId14"/>
                <a:stretch>
                  <a:fillRect t="-13636" b="-2272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4"/>
          <p:cNvSpPr/>
          <p:nvPr/>
        </p:nvSpPr>
        <p:spPr>
          <a:xfrm>
            <a:off x="704850" y="2667000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Solution Method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5"/>
              <p:cNvSpPr/>
              <p:nvPr/>
            </p:nvSpPr>
            <p:spPr>
              <a:xfrm>
                <a:off x="609600" y="3238500"/>
                <a:ext cx="5029200" cy="295275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ctr">
                  <a:lnSpc>
                    <a:spcPts val="21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𝑥</m:t>
                      </m:r>
                      <m:r>
                        <a:rPr lang="en-US" sz="1500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(</m:t>
                      </m:r>
                      <m:r>
                        <a:rPr lang="en-US" sz="1500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𝑡</m:t>
                      </m:r>
                      <m:r>
                        <a:rPr lang="en-US" sz="1500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) = </m:t>
                      </m:r>
                      <m:sSup>
                        <m:sSupPr>
                          <m:ctrlPr>
                            <a:rPr lang="en-US" sz="150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</m:ctrlPr>
                        </m:sSupPr>
                        <m:e>
                          <m: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𝐴𝑡</m:t>
                          </m:r>
                        </m:sup>
                      </m:sSup>
                      <m:sSub>
                        <m:sSubPr>
                          <m:ctrlPr>
                            <a:rPr lang="en-US" sz="150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</m:ctrlPr>
                        </m:sSubPr>
                        <m:e>
                          <m: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𝑥</m:t>
                          </m:r>
                        </m:e>
                        <m:sub>
                          <m: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238500"/>
                <a:ext cx="5029200" cy="295275"/>
              </a:xfrm>
              <a:prstGeom prst="rect">
                <a:avLst/>
              </a:prstGeom>
              <a:blipFill>
                <a:blip r:embed="rId15"/>
                <a:stretch>
                  <a:fillRect t="-8000" b="-24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6"/>
          <p:cNvSpPr/>
          <p:nvPr/>
        </p:nvSpPr>
        <p:spPr>
          <a:xfrm>
            <a:off x="609600" y="3609975"/>
            <a:ext cx="6035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Because A is diagonalizable:</a:t>
            </a:r>
            <a:endParaRPr lang="en-US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7"/>
              <p:cNvSpPr/>
              <p:nvPr/>
            </p:nvSpPr>
            <p:spPr>
              <a:xfrm>
                <a:off x="609600" y="3952875"/>
                <a:ext cx="5029200" cy="295275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marL="0" indent="0" algn="ctr">
                  <a:lnSpc>
                    <a:spcPts val="21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</m:ctrlPr>
                        </m:sSupPr>
                        <m:e>
                          <m: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𝐴</m:t>
                          </m:r>
                          <m: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=</m:t>
                          </m:r>
                          <m: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𝑉</m:t>
                          </m:r>
                          <m:r>
                            <m:rPr>
                              <m:sty m:val="p"/>
                            </m:rPr>
                            <a:rPr lang="el-GR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sSup>
                            <m:sSupPr>
                              <m:ctrlPr>
                                <a:rPr lang="el-GR" sz="1500" b="0" i="1" dirty="0" smtClean="0">
                                  <a:solidFill>
                                    <a:srgbClr val="0F766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b="0" i="1" dirty="0" smtClean="0">
                                  <a:solidFill>
                                    <a:srgbClr val="0F766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sz="1500" b="0" i="1" dirty="0" smtClean="0">
                                  <a:solidFill>
                                    <a:srgbClr val="0F766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𝐴𝑡</m:t>
                          </m:r>
                        </m:sup>
                      </m:sSup>
                      <m:r>
                        <a:rPr lang="en-US" sz="1500" b="0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</a:rPr>
                        <m:t>=</m:t>
                      </m:r>
                      <m:r>
                        <a:rPr lang="en-US" sz="1500" b="0" i="1" dirty="0" smtClean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</a:rPr>
                        <m:t>𝑉</m:t>
                      </m:r>
                      <m:sSup>
                        <m:sSupPr>
                          <m:ctrlP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</m:ctrlPr>
                        </m:sSupPr>
                        <m:e>
                          <m: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l-GR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</m:ctrlPr>
                        </m:sSupPr>
                        <m:e>
                          <m: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𝑉</m:t>
                          </m:r>
                        </m:e>
                        <m:sup>
                          <m:r>
                            <a:rPr lang="en-US" sz="1500" b="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952875"/>
                <a:ext cx="5029200" cy="295275"/>
              </a:xfrm>
              <a:prstGeom prst="rect">
                <a:avLst/>
              </a:prstGeom>
              <a:blipFill>
                <a:blip r:embed="rId16"/>
                <a:stretch>
                  <a:fillRect t="-12500" b="-25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8"/>
          <p:cNvSpPr/>
          <p:nvPr/>
        </p:nvSpPr>
        <p:spPr>
          <a:xfrm>
            <a:off x="647700" y="4324350"/>
            <a:ext cx="5989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Compute eigenvalues and eigenvectors</a:t>
            </a:r>
            <a:endParaRPr lang="en-US" sz="1350" dirty="0"/>
          </a:p>
        </p:txBody>
      </p:sp>
      <p:sp>
        <p:nvSpPr>
          <p:cNvPr id="23" name="Text 9"/>
          <p:cNvSpPr/>
          <p:nvPr/>
        </p:nvSpPr>
        <p:spPr>
          <a:xfrm>
            <a:off x="647700" y="4591050"/>
            <a:ext cx="4991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Form matrix exponential</a:t>
            </a:r>
            <a:endParaRPr lang="en-US" sz="1350" dirty="0"/>
          </a:p>
        </p:txBody>
      </p:sp>
      <p:sp>
        <p:nvSpPr>
          <p:cNvPr id="24" name="Text 10"/>
          <p:cNvSpPr/>
          <p:nvPr/>
        </p:nvSpPr>
        <p:spPr>
          <a:xfrm>
            <a:off x="647700" y="4857750"/>
            <a:ext cx="5989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Multiply by initial condition</a:t>
            </a:r>
            <a:endParaRPr lang="en-US" sz="1350" dirty="0"/>
          </a:p>
        </p:txBody>
      </p:sp>
      <p:sp>
        <p:nvSpPr>
          <p:cNvPr id="25" name="Text 11"/>
          <p:cNvSpPr/>
          <p:nvPr/>
        </p:nvSpPr>
        <p:spPr>
          <a:xfrm>
            <a:off x="6705600" y="1066800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Matrix A 2x2</a:t>
            </a:r>
            <a:endParaRPr lang="en-US" sz="1800" dirty="0"/>
          </a:p>
        </p:txBody>
      </p:sp>
      <p:sp>
        <p:nvSpPr>
          <p:cNvPr id="28" name="Text 14"/>
          <p:cNvSpPr/>
          <p:nvPr/>
        </p:nvSpPr>
        <p:spPr>
          <a:xfrm>
            <a:off x="6762750" y="2343150"/>
            <a:ext cx="6400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 525 Connection</a:t>
            </a:r>
            <a:endParaRPr lang="en-US" sz="1800" dirty="0"/>
          </a:p>
        </p:txBody>
      </p:sp>
      <p:sp>
        <p:nvSpPr>
          <p:cNvPr id="29" name="Text 15"/>
          <p:cNvSpPr/>
          <p:nvPr/>
        </p:nvSpPr>
        <p:spPr>
          <a:xfrm>
            <a:off x="6553200" y="2914650"/>
            <a:ext cx="6035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method directly uses course concepts:</a:t>
            </a:r>
            <a:endParaRPr lang="en-US" sz="1350" dirty="0"/>
          </a:p>
        </p:txBody>
      </p:sp>
      <p:sp>
        <p:nvSpPr>
          <p:cNvPr id="30" name="Text 16"/>
          <p:cNvSpPr/>
          <p:nvPr/>
        </p:nvSpPr>
        <p:spPr>
          <a:xfrm>
            <a:off x="6530340" y="3638550"/>
            <a:ext cx="1645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Eigenvalues</a:t>
            </a:r>
            <a:endParaRPr lang="en-US" sz="1200" dirty="0"/>
          </a:p>
        </p:txBody>
      </p:sp>
      <p:sp>
        <p:nvSpPr>
          <p:cNvPr id="31" name="Text 17"/>
          <p:cNvSpPr/>
          <p:nvPr/>
        </p:nvSpPr>
        <p:spPr>
          <a:xfrm>
            <a:off x="8244840" y="3638550"/>
            <a:ext cx="1645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Eigenvectors</a:t>
            </a:r>
            <a:endParaRPr lang="en-US" sz="1200" dirty="0"/>
          </a:p>
        </p:txBody>
      </p:sp>
      <p:sp>
        <p:nvSpPr>
          <p:cNvPr id="32" name="Text 18"/>
          <p:cNvSpPr/>
          <p:nvPr/>
        </p:nvSpPr>
        <p:spPr>
          <a:xfrm>
            <a:off x="10096500" y="3638550"/>
            <a:ext cx="137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Matrix Exponentials</a:t>
            </a:r>
            <a:endParaRPr lang="en-US" sz="1200" dirty="0"/>
          </a:p>
        </p:txBody>
      </p:sp>
      <p:sp>
        <p:nvSpPr>
          <p:cNvPr id="33" name="Text 19"/>
          <p:cNvSpPr/>
          <p:nvPr/>
        </p:nvSpPr>
        <p:spPr>
          <a:xfrm>
            <a:off x="457200" y="6210300"/>
            <a:ext cx="560248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Modeling Lidocaine Dynamics Using a Two-Compartment ODE System</a:t>
            </a:r>
            <a:endParaRPr lang="en-US" sz="1050" dirty="0"/>
          </a:p>
        </p:txBody>
      </p:sp>
      <p:sp>
        <p:nvSpPr>
          <p:cNvPr id="34" name="Text 20"/>
          <p:cNvSpPr/>
          <p:nvPr/>
        </p:nvSpPr>
        <p:spPr>
          <a:xfrm>
            <a:off x="10311854" y="6210300"/>
            <a:ext cx="17075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 525 Final Project</a:t>
            </a:r>
            <a:endParaRPr 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E0F4A0-52EB-8038-FD0C-D248DB483713}"/>
                  </a:ext>
                </a:extLst>
              </p:cNvPr>
              <p:cNvSpPr txBox="1"/>
              <p:nvPr/>
            </p:nvSpPr>
            <p:spPr>
              <a:xfrm>
                <a:off x="7071989" y="1613477"/>
                <a:ext cx="1495089" cy="384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500" i="1" smtClean="0">
                              <a:solidFill>
                                <a:srgbClr val="0D766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 smtClean="0">
                                  <a:solidFill>
                                    <a:srgbClr val="0D766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500" b="0" i="1" smtClean="0">
                                    <a:solidFill>
                                      <a:srgbClr val="0D766E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0" i="1" smtClean="0">
                                    <a:solidFill>
                                      <a:srgbClr val="0D766E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e>
                              <m:e>
                                <m:r>
                                  <a:rPr lang="en-US" sz="1500" b="0" i="1" smtClean="0">
                                    <a:solidFill>
                                      <a:srgbClr val="0D766E"/>
                                    </a:solidFill>
                                    <a:latin typeface="Cambria Math" panose="02040503050406030204" pitchFamily="18" charset="0"/>
                                  </a:rPr>
                                  <m:t>0.038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 b="0" i="1" smtClean="0">
                                    <a:solidFill>
                                      <a:srgbClr val="0D766E"/>
                                    </a:solidFill>
                                    <a:latin typeface="Cambria Math" panose="02040503050406030204" pitchFamily="18" charset="0"/>
                                  </a:rPr>
                                  <m:t>0.066</m:t>
                                </m:r>
                              </m:e>
                              <m:e>
                                <m:r>
                                  <a:rPr lang="en-US" sz="1500" b="0" i="1" smtClean="0">
                                    <a:solidFill>
                                      <a:srgbClr val="0D766E"/>
                                    </a:solidFill>
                                    <a:latin typeface="Cambria Math" panose="02040503050406030204" pitchFamily="18" charset="0"/>
                                  </a:rPr>
                                  <m:t>−0.038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E0F4A0-52EB-8038-FD0C-D248DB483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989" y="1613477"/>
                <a:ext cx="1495089" cy="384849"/>
              </a:xfrm>
              <a:prstGeom prst="rect">
                <a:avLst/>
              </a:prstGeom>
              <a:blipFill>
                <a:blip r:embed="rId17"/>
                <a:stretch>
                  <a:fillRect t="-3226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95375"/>
            <a:ext cx="257175" cy="228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33600"/>
            <a:ext cx="5410200" cy="495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86100"/>
            <a:ext cx="5410200" cy="495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10000"/>
            <a:ext cx="2628900" cy="1676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000500"/>
            <a:ext cx="219075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8500" y="3810000"/>
            <a:ext cx="2628900" cy="1676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0900" y="4000500"/>
            <a:ext cx="142875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1066800"/>
            <a:ext cx="5410200" cy="4914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0304" y="1323975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1752600"/>
            <a:ext cx="4953000" cy="2438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4419600"/>
            <a:ext cx="2400300" cy="102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7500" y="4562475"/>
            <a:ext cx="1333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5900" y="4419600"/>
            <a:ext cx="2400300" cy="1028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0200" y="4562475"/>
            <a:ext cx="190500" cy="17145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Eigenvalue Insights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790575" y="1066800"/>
            <a:ext cx="6492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Eigenvalue Approach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2"/>
              <p:cNvSpPr/>
              <p:nvPr/>
            </p:nvSpPr>
            <p:spPr>
              <a:xfrm>
                <a:off x="457200" y="1485900"/>
                <a:ext cx="5410200" cy="5334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>
                  <a:lnSpc>
                    <a:spcPts val="2100"/>
                  </a:lnSpc>
                </a:pPr>
                <a:r>
                  <a:rPr lang="en-US" sz="1350" dirty="0">
                    <a:solidFill>
                      <a:srgbClr val="4B5563"/>
                    </a:solidFill>
                    <a:latin typeface="ui-sans-serif" pitchFamily="34" charset="0"/>
                    <a:ea typeface="ui-sans-serif" pitchFamily="34" charset="-122"/>
                    <a:cs typeface="ui-sans-serif" pitchFamily="34" charset="-120"/>
                  </a:rPr>
                  <a:t>For the linear system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0F766E"/>
                        </a:solidFill>
                        <a:latin typeface="Cambria Math" panose="02040503050406030204" pitchFamily="18" charset="0"/>
                        <a:ea typeface="ui-monospace" pitchFamily="34" charset="-122"/>
                        <a:cs typeface="ui-monospace" pitchFamily="34" charset="-120"/>
                      </a:rPr>
                      <m:t>𝑥</m:t>
                    </m:r>
                    <m:r>
                      <a:rPr lang="en-US" sz="1400" i="1" dirty="0">
                        <a:solidFill>
                          <a:srgbClr val="0F766E"/>
                        </a:solidFill>
                        <a:latin typeface="Cambria Math" panose="02040503050406030204" pitchFamily="18" charset="0"/>
                        <a:ea typeface="ui-monospace" pitchFamily="34" charset="-122"/>
                        <a:cs typeface="ui-monospace" pitchFamily="34" charset="-120"/>
                      </a:rPr>
                      <m:t>′(</m:t>
                    </m:r>
                    <m:r>
                      <a:rPr lang="en-US" sz="1400" i="1" dirty="0">
                        <a:solidFill>
                          <a:srgbClr val="0F766E"/>
                        </a:solidFill>
                        <a:latin typeface="Cambria Math" panose="02040503050406030204" pitchFamily="18" charset="0"/>
                        <a:ea typeface="ui-monospace" pitchFamily="34" charset="-122"/>
                        <a:cs typeface="ui-monospace" pitchFamily="34" charset="-120"/>
                      </a:rPr>
                      <m:t>𝑡</m:t>
                    </m:r>
                    <m:r>
                      <a:rPr lang="en-US" sz="1400" i="1" dirty="0">
                        <a:solidFill>
                          <a:srgbClr val="0F766E"/>
                        </a:solidFill>
                        <a:latin typeface="Cambria Math" panose="02040503050406030204" pitchFamily="18" charset="0"/>
                        <a:ea typeface="ui-monospace" pitchFamily="34" charset="-122"/>
                        <a:cs typeface="ui-monospace" pitchFamily="34" charset="-120"/>
                      </a:rPr>
                      <m:t>) = </m:t>
                    </m:r>
                    <m:r>
                      <a:rPr lang="en-US" sz="1400" i="1" dirty="0">
                        <a:solidFill>
                          <a:srgbClr val="0F766E"/>
                        </a:solidFill>
                        <a:latin typeface="Cambria Math" panose="02040503050406030204" pitchFamily="18" charset="0"/>
                        <a:ea typeface="ui-monospace" pitchFamily="34" charset="-122"/>
                        <a:cs typeface="ui-monospace" pitchFamily="34" charset="-120"/>
                      </a:rPr>
                      <m:t>𝐴𝑥</m:t>
                    </m:r>
                    <m:r>
                      <a:rPr lang="en-US" sz="1400" i="1" dirty="0">
                        <a:solidFill>
                          <a:srgbClr val="0F766E"/>
                        </a:solidFill>
                        <a:latin typeface="Cambria Math" panose="02040503050406030204" pitchFamily="18" charset="0"/>
                        <a:ea typeface="ui-monospace" pitchFamily="34" charset="-122"/>
                        <a:cs typeface="ui-monospace" pitchFamily="34" charset="-120"/>
                      </a:rPr>
                      <m:t>(</m:t>
                    </m:r>
                    <m:r>
                      <a:rPr lang="en-US" sz="1400" i="1" dirty="0">
                        <a:solidFill>
                          <a:srgbClr val="0F766E"/>
                        </a:solidFill>
                        <a:latin typeface="Cambria Math" panose="02040503050406030204" pitchFamily="18" charset="0"/>
                        <a:ea typeface="ui-monospace" pitchFamily="34" charset="-122"/>
                        <a:cs typeface="ui-monospace" pitchFamily="34" charset="-120"/>
                      </a:rPr>
                      <m:t>𝑡</m:t>
                    </m:r>
                    <m:r>
                      <a:rPr lang="en-US" sz="1400" i="1" dirty="0">
                        <a:solidFill>
                          <a:srgbClr val="0F766E"/>
                        </a:solidFill>
                        <a:latin typeface="Cambria Math" panose="02040503050406030204" pitchFamily="18" charset="0"/>
                        <a:ea typeface="ui-monospace" pitchFamily="34" charset="-122"/>
                        <a:cs typeface="ui-monospace" pitchFamily="34" charset="-12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rgbClr val="0F766E"/>
                    </a:solidFill>
                    <a:ea typeface="ui-monospace" pitchFamily="34" charset="-122"/>
                    <a:cs typeface="ui-sans-serif" pitchFamily="34" charset="-120"/>
                  </a:rPr>
                  <a:t>, </a:t>
                </a:r>
                <a:r>
                  <a:rPr lang="en-US" sz="1350" dirty="0">
                    <a:solidFill>
                      <a:srgbClr val="4B5563"/>
                    </a:solidFill>
                    <a:latin typeface="ui-sans-serif" pitchFamily="34" charset="0"/>
                    <a:ea typeface="ui-sans-serif" pitchFamily="34" charset="-122"/>
                    <a:cs typeface="ui-sans-serif" pitchFamily="34" charset="-120"/>
                  </a:rPr>
                  <a:t>the solution involves matrix exponentials:</a:t>
                </a:r>
                <a:endParaRPr lang="en-US" sz="1350" dirty="0"/>
              </a:p>
            </p:txBody>
          </p:sp>
        </mc:Choice>
        <mc:Fallback xmlns="">
          <p:sp>
            <p:nvSpPr>
              <p:cNvPr id="19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85900"/>
                <a:ext cx="5410200" cy="533400"/>
              </a:xfrm>
              <a:prstGeom prst="rect">
                <a:avLst/>
              </a:prstGeom>
              <a:blipFill>
                <a:blip r:embed="rId16"/>
                <a:stretch>
                  <a:fillRect l="-2108" t="-4762" b="-1904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3"/>
              <p:cNvSpPr/>
              <p:nvPr/>
            </p:nvSpPr>
            <p:spPr>
              <a:xfrm>
                <a:off x="571500" y="2247900"/>
                <a:ext cx="5181600" cy="2667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algn="ctr">
                  <a:lnSpc>
                    <a:spcPts val="21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𝑥</m:t>
                      </m:r>
                      <m:r>
                        <a:rPr lang="en-US" sz="1400" i="1" dirty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𝑡</m:t>
                      </m:r>
                      <m:r>
                        <a:rPr lang="en-US" sz="1400" i="1" dirty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  <a:cs typeface="ui-monospace" pitchFamily="34" charset="-120"/>
                        </a:rPr>
                        <m:t>) = </m:t>
                      </m:r>
                      <m:sSup>
                        <m:sSupPr>
                          <m:ctrlP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𝐴𝑡</m:t>
                          </m:r>
                        </m:sup>
                      </m:sSup>
                      <m:sSub>
                        <m:sSubPr>
                          <m:ctrlP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𝑥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rgbClr val="0F766E"/>
                  </a:solidFill>
                  <a:ea typeface="ui-monospace" pitchFamily="34" charset="-122"/>
                </a:endParaRPr>
              </a:p>
            </p:txBody>
          </p:sp>
        </mc:Choice>
        <mc:Fallback xmlns="">
          <p:sp>
            <p:nvSpPr>
              <p:cNvPr id="20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247900"/>
                <a:ext cx="5181600" cy="266700"/>
              </a:xfrm>
              <a:prstGeom prst="rect">
                <a:avLst/>
              </a:prstGeom>
              <a:blipFill>
                <a:blip r:embed="rId17"/>
                <a:stretch>
                  <a:fillRect b="-2272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4"/>
          <p:cNvSpPr/>
          <p:nvPr/>
        </p:nvSpPr>
        <p:spPr>
          <a:xfrm>
            <a:off x="457200" y="27432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Since A is diagonalizable:</a:t>
            </a:r>
            <a:endParaRPr lang="en-US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5"/>
              <p:cNvSpPr/>
              <p:nvPr/>
            </p:nvSpPr>
            <p:spPr>
              <a:xfrm>
                <a:off x="571500" y="3200400"/>
                <a:ext cx="5181600" cy="2667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algn="ctr">
                  <a:lnSpc>
                    <a:spcPts val="21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dirty="0" smtClean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𝐴</m:t>
                          </m:r>
                          <m: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=</m:t>
                          </m:r>
                          <m: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𝑉</m:t>
                          </m:r>
                          <m:r>
                            <m:rPr>
                              <m:sty m:val="p"/>
                            </m:rPr>
                            <a:rPr lang="el-GR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sSup>
                            <m:sSupPr>
                              <m:ctrlPr>
                                <a:rPr lang="el-GR" sz="1400" i="1" dirty="0">
                                  <a:solidFill>
                                    <a:srgbClr val="0F766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solidFill>
                                    <a:srgbClr val="0F766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sz="1400" i="1" dirty="0">
                                  <a:solidFill>
                                    <a:srgbClr val="0F766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𝐴𝑡</m:t>
                          </m:r>
                        </m:sup>
                      </m:sSup>
                      <m:r>
                        <a:rPr lang="en-US" sz="1400" i="1" dirty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</a:rPr>
                        <m:t>=</m:t>
                      </m:r>
                      <m:r>
                        <a:rPr lang="en-US" sz="1400" i="1" dirty="0">
                          <a:solidFill>
                            <a:srgbClr val="0F766E"/>
                          </a:solidFill>
                          <a:latin typeface="Cambria Math" panose="02040503050406030204" pitchFamily="18" charset="0"/>
                          <a:ea typeface="ui-monospace" pitchFamily="34" charset="-122"/>
                        </a:rPr>
                        <m:t>𝑉</m:t>
                      </m:r>
                      <m:sSup>
                        <m:sSupPr>
                          <m:ctrlP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l-GR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𝑉</m:t>
                          </m:r>
                        </m:e>
                        <m:sup>
                          <m:r>
                            <a:rPr lang="en-US" sz="1400" i="1" dirty="0">
                              <a:solidFill>
                                <a:srgbClr val="0F766E"/>
                              </a:solidFill>
                              <a:latin typeface="Cambria Math" panose="02040503050406030204" pitchFamily="18" charset="0"/>
                              <a:ea typeface="ui-monospace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22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200400"/>
                <a:ext cx="5181600" cy="2667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6"/>
          <p:cNvSpPr/>
          <p:nvPr/>
        </p:nvSpPr>
        <p:spPr>
          <a:xfrm>
            <a:off x="904875" y="3962400"/>
            <a:ext cx="2324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Large Negative Eigenvalue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609600" y="457200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 distribution phase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609600" y="4876800"/>
            <a:ext cx="2324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Controls the initial rapid decline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3609975" y="3962400"/>
            <a:ext cx="2324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Small Negative Eigenvalue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3390900" y="457200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Slow elimination phase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3390900" y="487680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Controls the gradual decline</a:t>
            </a:r>
            <a:endParaRPr lang="en-US" sz="1200" dirty="0"/>
          </a:p>
        </p:txBody>
      </p:sp>
      <p:sp>
        <p:nvSpPr>
          <p:cNvPr id="29" name="Text 12"/>
          <p:cNvSpPr/>
          <p:nvPr/>
        </p:nvSpPr>
        <p:spPr>
          <a:xfrm>
            <a:off x="6553200" y="1295400"/>
            <a:ext cx="4953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Biphasic PK Curve</a:t>
            </a:r>
            <a:endParaRPr lang="en-US" sz="1800" dirty="0"/>
          </a:p>
        </p:txBody>
      </p:sp>
      <p:sp>
        <p:nvSpPr>
          <p:cNvPr id="30" name="Text 13"/>
          <p:cNvSpPr/>
          <p:nvPr/>
        </p:nvSpPr>
        <p:spPr>
          <a:xfrm>
            <a:off x="6877050" y="4533900"/>
            <a:ext cx="2606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Distribution Phase</a:t>
            </a:r>
            <a:endParaRPr lang="en-US" sz="1350" dirty="0"/>
          </a:p>
        </p:txBody>
      </p:sp>
      <p:sp>
        <p:nvSpPr>
          <p:cNvPr id="31" name="Text 14"/>
          <p:cNvSpPr/>
          <p:nvPr/>
        </p:nvSpPr>
        <p:spPr>
          <a:xfrm>
            <a:off x="6667500" y="4876800"/>
            <a:ext cx="2171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Rapid initial drop due to fast distribution</a:t>
            </a:r>
            <a:endParaRPr lang="en-US" sz="1200" dirty="0"/>
          </a:p>
        </p:txBody>
      </p:sp>
      <p:sp>
        <p:nvSpPr>
          <p:cNvPr id="32" name="Text 15"/>
          <p:cNvSpPr/>
          <p:nvPr/>
        </p:nvSpPr>
        <p:spPr>
          <a:xfrm>
            <a:off x="9486900" y="4533900"/>
            <a:ext cx="2606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Elimination Phase</a:t>
            </a:r>
            <a:endParaRPr lang="en-US" sz="1350" dirty="0"/>
          </a:p>
        </p:txBody>
      </p:sp>
      <p:sp>
        <p:nvSpPr>
          <p:cNvPr id="33" name="Text 16"/>
          <p:cNvSpPr/>
          <p:nvPr/>
        </p:nvSpPr>
        <p:spPr>
          <a:xfrm>
            <a:off x="9220200" y="4876800"/>
            <a:ext cx="2171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Slow, gradual decline as drug is eliminated</a:t>
            </a:r>
            <a:endParaRPr lang="en-US" sz="1200" dirty="0"/>
          </a:p>
        </p:txBody>
      </p:sp>
      <p:sp>
        <p:nvSpPr>
          <p:cNvPr id="34" name="Text 17"/>
          <p:cNvSpPr/>
          <p:nvPr/>
        </p:nvSpPr>
        <p:spPr>
          <a:xfrm>
            <a:off x="457200" y="6210300"/>
            <a:ext cx="560248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Modeling Lidocaine Dynamics Using a Two-Compartment ODE System</a:t>
            </a:r>
            <a:endParaRPr lang="en-US" sz="1050" dirty="0"/>
          </a:p>
        </p:txBody>
      </p:sp>
      <p:sp>
        <p:nvSpPr>
          <p:cNvPr id="35" name="Text 18"/>
          <p:cNvSpPr/>
          <p:nvPr/>
        </p:nvSpPr>
        <p:spPr>
          <a:xfrm>
            <a:off x="10311854" y="6210300"/>
            <a:ext cx="17075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 525 Final Project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66800"/>
            <a:ext cx="6614071" cy="525988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071" y="10953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071" y="1524000"/>
            <a:ext cx="1333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6071" y="1943100"/>
            <a:ext cx="133350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6071" y="2362200"/>
            <a:ext cx="1333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6071" y="2781300"/>
            <a:ext cx="1333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6071" y="3343275"/>
            <a:ext cx="257175" cy="2286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-67056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Single Dose Simulation Results</a:t>
            </a:r>
            <a:endParaRPr lang="en-US" sz="2700" dirty="0"/>
          </a:p>
        </p:txBody>
      </p:sp>
      <p:sp>
        <p:nvSpPr>
          <p:cNvPr id="13" name="Text 2"/>
          <p:cNvSpPr/>
          <p:nvPr/>
        </p:nvSpPr>
        <p:spPr>
          <a:xfrm>
            <a:off x="-21327" y="1828800"/>
            <a:ext cx="75711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Single injection of 100.0 mg lidocaine</a:t>
            </a:r>
            <a:endParaRPr lang="en-US" sz="1350" dirty="0"/>
          </a:p>
        </p:txBody>
      </p:sp>
      <p:sp>
        <p:nvSpPr>
          <p:cNvPr id="15" name="Text 4"/>
          <p:cNvSpPr/>
          <p:nvPr/>
        </p:nvSpPr>
        <p:spPr>
          <a:xfrm>
            <a:off x="7680871" y="1066800"/>
            <a:ext cx="523029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Key Observations</a:t>
            </a:r>
            <a:endParaRPr lang="en-US" sz="1800" dirty="0"/>
          </a:p>
        </p:txBody>
      </p:sp>
      <p:sp>
        <p:nvSpPr>
          <p:cNvPr id="16" name="Text 5"/>
          <p:cNvSpPr/>
          <p:nvPr/>
        </p:nvSpPr>
        <p:spPr>
          <a:xfrm>
            <a:off x="7585621" y="1485900"/>
            <a:ext cx="45741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Drug rapidly enters bloodstream from tissue</a:t>
            </a:r>
            <a:endParaRPr lang="en-US" sz="1350" dirty="0"/>
          </a:p>
        </p:txBody>
      </p:sp>
      <p:sp>
        <p:nvSpPr>
          <p:cNvPr id="17" name="Text 6"/>
          <p:cNvSpPr/>
          <p:nvPr/>
        </p:nvSpPr>
        <p:spPr>
          <a:xfrm>
            <a:off x="7585621" y="1905000"/>
            <a:ext cx="48002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Bloodstream concentration peaks within hours</a:t>
            </a:r>
            <a:endParaRPr lang="en-US" sz="1350" dirty="0"/>
          </a:p>
        </p:txBody>
      </p:sp>
      <p:sp>
        <p:nvSpPr>
          <p:cNvPr id="18" name="Text 7"/>
          <p:cNvSpPr/>
          <p:nvPr/>
        </p:nvSpPr>
        <p:spPr>
          <a:xfrm>
            <a:off x="7585621" y="2324100"/>
            <a:ext cx="32309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Slow decline over tens of hours</a:t>
            </a:r>
            <a:endParaRPr lang="en-US" sz="1350" dirty="0"/>
          </a:p>
        </p:txBody>
      </p:sp>
      <p:sp>
        <p:nvSpPr>
          <p:cNvPr id="19" name="Text 8"/>
          <p:cNvSpPr/>
          <p:nvPr/>
        </p:nvSpPr>
        <p:spPr>
          <a:xfrm>
            <a:off x="7585621" y="2743200"/>
            <a:ext cx="414837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Tissue compartment retains drug longer</a:t>
            </a:r>
            <a:endParaRPr lang="en-US" sz="1350" dirty="0"/>
          </a:p>
        </p:txBody>
      </p:sp>
      <p:sp>
        <p:nvSpPr>
          <p:cNvPr id="20" name="Text 9"/>
          <p:cNvSpPr/>
          <p:nvPr/>
        </p:nvSpPr>
        <p:spPr>
          <a:xfrm>
            <a:off x="7709446" y="3314700"/>
            <a:ext cx="523029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Clinical Significance</a:t>
            </a:r>
            <a:endParaRPr lang="en-US" sz="1800" dirty="0"/>
          </a:p>
        </p:txBody>
      </p:sp>
      <p:sp>
        <p:nvSpPr>
          <p:cNvPr id="21" name="Text 10"/>
          <p:cNvSpPr/>
          <p:nvPr/>
        </p:nvSpPr>
        <p:spPr>
          <a:xfrm>
            <a:off x="7376071" y="3733800"/>
            <a:ext cx="435858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simulation shows the biphasic elimination curve:</a:t>
            </a:r>
            <a:endParaRPr lang="en-US" sz="1350" dirty="0"/>
          </a:p>
        </p:txBody>
      </p:sp>
      <p:sp>
        <p:nvSpPr>
          <p:cNvPr id="22" name="Text 11"/>
          <p:cNvSpPr/>
          <p:nvPr/>
        </p:nvSpPr>
        <p:spPr>
          <a:xfrm>
            <a:off x="7414171" y="4343400"/>
            <a:ext cx="51845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 initial drop (distribution phase)</a:t>
            </a:r>
            <a:endParaRPr lang="en-US" sz="1350" dirty="0"/>
          </a:p>
        </p:txBody>
      </p:sp>
      <p:sp>
        <p:nvSpPr>
          <p:cNvPr id="23" name="Text 12"/>
          <p:cNvSpPr/>
          <p:nvPr/>
        </p:nvSpPr>
        <p:spPr>
          <a:xfrm>
            <a:off x="7414171" y="4610100"/>
            <a:ext cx="51845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Slow, gradual decline (elimination phase)</a:t>
            </a:r>
            <a:endParaRPr lang="en-US" sz="1350" dirty="0"/>
          </a:p>
        </p:txBody>
      </p:sp>
      <p:sp>
        <p:nvSpPr>
          <p:cNvPr id="24" name="Text 13"/>
          <p:cNvSpPr/>
          <p:nvPr/>
        </p:nvSpPr>
        <p:spPr>
          <a:xfrm>
            <a:off x="457200" y="6555284"/>
            <a:ext cx="560248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Modeling Lidocaine Dynamics Using a Two-Compartment ODE System</a:t>
            </a:r>
            <a:endParaRPr lang="en-US" sz="1050" dirty="0"/>
          </a:p>
        </p:txBody>
      </p:sp>
      <p:sp>
        <p:nvSpPr>
          <p:cNvPr id="25" name="Text 14"/>
          <p:cNvSpPr/>
          <p:nvPr/>
        </p:nvSpPr>
        <p:spPr>
          <a:xfrm>
            <a:off x="10311854" y="6555284"/>
            <a:ext cx="17075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 525 Final Project</a:t>
            </a:r>
            <a:endParaRPr lang="en-US" sz="1050" dirty="0"/>
          </a:p>
        </p:txBody>
      </p:sp>
      <p:pic>
        <p:nvPicPr>
          <p:cNvPr id="27" name="Picture 26" descr="A graph of a line&#10;&#10;AI-generated content may be incorrect.">
            <a:extLst>
              <a:ext uri="{FF2B5EF4-FFF2-40B4-BE49-F238E27FC236}">
                <a16:creationId xmlns:a16="http://schemas.microsoft.com/office/drawing/2014/main" id="{9CA283C8-6210-7D74-C10C-6C39870B5A8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026" y="1311729"/>
            <a:ext cx="5929402" cy="47026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66800"/>
            <a:ext cx="6537871" cy="4914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271" y="1095375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271" y="152400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271" y="2362200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271" y="4076700"/>
            <a:ext cx="4282380" cy="1181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4671" y="4181475"/>
            <a:ext cx="133350" cy="17145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Multiple Dose Comparison</a:t>
            </a:r>
            <a:endParaRPr lang="en-US" sz="2700" dirty="0"/>
          </a:p>
        </p:txBody>
      </p:sp>
      <p:sp>
        <p:nvSpPr>
          <p:cNvPr id="18" name="Text 5"/>
          <p:cNvSpPr/>
          <p:nvPr/>
        </p:nvSpPr>
        <p:spPr>
          <a:xfrm>
            <a:off x="7757071" y="1066800"/>
            <a:ext cx="513885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19" name="Text 6"/>
          <p:cNvSpPr/>
          <p:nvPr/>
        </p:nvSpPr>
        <p:spPr>
          <a:xfrm>
            <a:off x="7738021" y="1504950"/>
            <a:ext cx="2648545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6D7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Higher doses peak higher</a:t>
            </a:r>
            <a:endParaRPr lang="en-US" sz="1200" dirty="0"/>
          </a:p>
        </p:txBody>
      </p:sp>
      <p:sp>
        <p:nvSpPr>
          <p:cNvPr id="20" name="Text 7"/>
          <p:cNvSpPr/>
          <p:nvPr/>
        </p:nvSpPr>
        <p:spPr>
          <a:xfrm>
            <a:off x="7738021" y="1714500"/>
            <a:ext cx="399663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maximum concentration in the bloodstream increases with dose magnitude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7680871" y="2343150"/>
            <a:ext cx="1980783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6D7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Longer persistence</a:t>
            </a:r>
            <a:endParaRPr lang="en-US" sz="1200" dirty="0"/>
          </a:p>
        </p:txBody>
      </p:sp>
      <p:sp>
        <p:nvSpPr>
          <p:cNvPr id="22" name="Text 9"/>
          <p:cNvSpPr/>
          <p:nvPr/>
        </p:nvSpPr>
        <p:spPr>
          <a:xfrm>
            <a:off x="7680871" y="2552700"/>
            <a:ext cx="40537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Higher doses maintain elevated levels for extended periods</a:t>
            </a:r>
            <a:endParaRPr lang="en-US" sz="1200" dirty="0"/>
          </a:p>
        </p:txBody>
      </p:sp>
      <p:sp>
        <p:nvSpPr>
          <p:cNvPr id="23" name="Text 10"/>
          <p:cNvSpPr/>
          <p:nvPr/>
        </p:nvSpPr>
        <p:spPr>
          <a:xfrm>
            <a:off x="7566571" y="3181350"/>
            <a:ext cx="143785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6D7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Linear scaling</a:t>
            </a:r>
            <a:endParaRPr lang="en-US" sz="1200" dirty="0"/>
          </a:p>
        </p:txBody>
      </p:sp>
      <p:sp>
        <p:nvSpPr>
          <p:cNvPr id="24" name="Text 11"/>
          <p:cNvSpPr/>
          <p:nvPr/>
        </p:nvSpPr>
        <p:spPr>
          <a:xfrm>
            <a:off x="7566571" y="3390900"/>
            <a:ext cx="41680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Due to the linearity of the ODE model, curves scale proportionally with dose</a:t>
            </a:r>
            <a:endParaRPr lang="en-US" sz="1200" dirty="0"/>
          </a:p>
        </p:txBody>
      </p:sp>
      <p:sp>
        <p:nvSpPr>
          <p:cNvPr id="25" name="Text 12"/>
          <p:cNvSpPr/>
          <p:nvPr/>
        </p:nvSpPr>
        <p:spPr>
          <a:xfrm>
            <a:off x="7814221" y="4152900"/>
            <a:ext cx="49559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Implications</a:t>
            </a:r>
            <a:endParaRPr lang="en-US" sz="1350" dirty="0"/>
          </a:p>
        </p:txBody>
      </p:sp>
      <p:sp>
        <p:nvSpPr>
          <p:cNvPr id="26" name="Text 13"/>
          <p:cNvSpPr/>
          <p:nvPr/>
        </p:nvSpPr>
        <p:spPr>
          <a:xfrm>
            <a:off x="7604671" y="4495800"/>
            <a:ext cx="412998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information helps assess the risk of exceeding dangerous concentration limits (6 mg/L) while ensuring therapeutic efficacy (1.5 mg/L).</a:t>
            </a:r>
            <a:endParaRPr lang="en-US" sz="1200" dirty="0"/>
          </a:p>
        </p:txBody>
      </p:sp>
      <p:sp>
        <p:nvSpPr>
          <p:cNvPr id="27" name="Text 14"/>
          <p:cNvSpPr/>
          <p:nvPr/>
        </p:nvSpPr>
        <p:spPr>
          <a:xfrm>
            <a:off x="457200" y="6210300"/>
            <a:ext cx="560248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Modeling Lidocaine Dynamics Using a Two-Compartment ODE System</a:t>
            </a:r>
            <a:endParaRPr lang="en-US" sz="1050" dirty="0"/>
          </a:p>
        </p:txBody>
      </p:sp>
      <p:sp>
        <p:nvSpPr>
          <p:cNvPr id="28" name="Text 15"/>
          <p:cNvSpPr/>
          <p:nvPr/>
        </p:nvSpPr>
        <p:spPr>
          <a:xfrm>
            <a:off x="10311854" y="6210300"/>
            <a:ext cx="17075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 525 Final Project</a:t>
            </a:r>
            <a:endParaRPr lang="en-US" sz="1050" dirty="0"/>
          </a:p>
        </p:txBody>
      </p:sp>
      <p:pic>
        <p:nvPicPr>
          <p:cNvPr id="30" name="Picture 2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510B556-7B54-DB96-8B44-B054659FE9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851" y="1485900"/>
            <a:ext cx="5888567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43000"/>
            <a:ext cx="5524500" cy="4838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400175"/>
            <a:ext cx="20002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828800"/>
            <a:ext cx="5067300" cy="1104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0193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162300"/>
            <a:ext cx="5067300" cy="1104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3528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1143000"/>
            <a:ext cx="5524500" cy="2019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1400175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24384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27432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3390900"/>
            <a:ext cx="5524500" cy="1943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4419600"/>
            <a:ext cx="5143500" cy="285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68244" y="3800475"/>
            <a:ext cx="836861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7911" y="3798830"/>
            <a:ext cx="431453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962400"/>
            <a:ext cx="5124450" cy="914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Interpretation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962025" y="1371600"/>
            <a:ext cx="60807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Applications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1104900" y="1981200"/>
            <a:ext cx="4762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Therapeutic Window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838200" y="2324100"/>
            <a:ext cx="4762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predicts time above therapeutic threshold (1.5 mg/L), helping determine dosing frequency.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1104900" y="3314700"/>
            <a:ext cx="4762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Overdose Risk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838200" y="3657600"/>
            <a:ext cx="4762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Higher initial doses increase peak concentrations, enabling risk assessment for toxic levels (&gt;6 mg/L).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6743700" y="1371600"/>
            <a:ext cx="50673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Validity</a:t>
            </a:r>
            <a:endParaRPr lang="en-US" sz="1800" dirty="0"/>
          </a:p>
        </p:txBody>
      </p:sp>
      <p:sp>
        <p:nvSpPr>
          <p:cNvPr id="25" name="Text 7"/>
          <p:cNvSpPr/>
          <p:nvPr/>
        </p:nvSpPr>
        <p:spPr>
          <a:xfrm>
            <a:off x="6438900" y="1790700"/>
            <a:ext cx="5067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Despite its simplicity, the two-compartment model captures essential pharmacokinetic behavior: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6667500" y="2400300"/>
            <a:ext cx="58051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Biphasic elimination pattern (distribution &amp; elimination phases)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6667500" y="2705100"/>
            <a:ext cx="376725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Linear scaling of concentration with dose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5886450" y="3581400"/>
            <a:ext cx="617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Concentration-Time Relationship</a:t>
            </a:r>
            <a:endParaRPr lang="en-US" sz="1500" dirty="0"/>
          </a:p>
        </p:txBody>
      </p:sp>
      <p:sp>
        <p:nvSpPr>
          <p:cNvPr id="29" name="Text 11"/>
          <p:cNvSpPr/>
          <p:nvPr/>
        </p:nvSpPr>
        <p:spPr>
          <a:xfrm>
            <a:off x="7184557" y="3829050"/>
            <a:ext cx="10042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Therapeutic</a:t>
            </a:r>
            <a:endParaRPr lang="en-US" sz="900" dirty="0"/>
          </a:p>
        </p:txBody>
      </p:sp>
      <p:sp>
        <p:nvSpPr>
          <p:cNvPr id="30" name="Text 12"/>
          <p:cNvSpPr/>
          <p:nvPr/>
        </p:nvSpPr>
        <p:spPr>
          <a:xfrm>
            <a:off x="9742378" y="3829050"/>
            <a:ext cx="5177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Toxic</a:t>
            </a:r>
            <a:endParaRPr lang="en-US" sz="900" dirty="0"/>
          </a:p>
        </p:txBody>
      </p:sp>
      <p:sp>
        <p:nvSpPr>
          <p:cNvPr id="31" name="Text 13"/>
          <p:cNvSpPr/>
          <p:nvPr/>
        </p:nvSpPr>
        <p:spPr>
          <a:xfrm>
            <a:off x="5886450" y="4953000"/>
            <a:ext cx="6172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captures realistic PK behavior for clinical decision support</a:t>
            </a:r>
            <a:endParaRPr lang="en-US" sz="1050" dirty="0"/>
          </a:p>
        </p:txBody>
      </p:sp>
      <p:sp>
        <p:nvSpPr>
          <p:cNvPr id="32" name="Text 14"/>
          <p:cNvSpPr/>
          <p:nvPr/>
        </p:nvSpPr>
        <p:spPr>
          <a:xfrm>
            <a:off x="457200" y="6210300"/>
            <a:ext cx="560248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Modeling Lidocaine Dynamics Using a Two-Compartment ODE System</a:t>
            </a:r>
            <a:endParaRPr lang="en-US" sz="1050" dirty="0"/>
          </a:p>
        </p:txBody>
      </p:sp>
      <p:sp>
        <p:nvSpPr>
          <p:cNvPr id="33" name="Text 15"/>
          <p:cNvSpPr/>
          <p:nvPr/>
        </p:nvSpPr>
        <p:spPr>
          <a:xfrm>
            <a:off x="10311854" y="6210300"/>
            <a:ext cx="17075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 525 Final Project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9906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33500"/>
            <a:ext cx="5486400" cy="2438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5906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009775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657475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305175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000500"/>
            <a:ext cx="5486400" cy="1905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257675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676775"/>
            <a:ext cx="171450" cy="171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057775"/>
            <a:ext cx="171450" cy="1714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438775"/>
            <a:ext cx="17145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728788"/>
            <a:ext cx="5486400" cy="37814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8775" y="2833688"/>
            <a:ext cx="51435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8701" y="3324225"/>
            <a:ext cx="1219200" cy="190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0626" y="2833688"/>
            <a:ext cx="400050" cy="4572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990600" y="1562100"/>
            <a:ext cx="5029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Model Analysis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742950" y="1981200"/>
            <a:ext cx="5219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Two-compartment model effectively captures lidocaine distribution dynamics</a:t>
            </a:r>
            <a:endParaRPr lang="en-US" sz="1350" dirty="0"/>
          </a:p>
        </p:txBody>
      </p:sp>
      <p:sp>
        <p:nvSpPr>
          <p:cNvPr id="21" name="Text 3"/>
          <p:cNvSpPr/>
          <p:nvPr/>
        </p:nvSpPr>
        <p:spPr>
          <a:xfrm>
            <a:off x="742950" y="2628900"/>
            <a:ext cx="5219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Eigenvalue analysis revealed biphasic elimination behavior</a:t>
            </a:r>
            <a:endParaRPr lang="en-US" sz="1350" dirty="0"/>
          </a:p>
        </p:txBody>
      </p:sp>
      <p:sp>
        <p:nvSpPr>
          <p:cNvPr id="22" name="Text 4"/>
          <p:cNvSpPr/>
          <p:nvPr/>
        </p:nvSpPr>
        <p:spPr>
          <a:xfrm>
            <a:off x="742950" y="327660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Matrix exponential methods provide exact solutions</a:t>
            </a:r>
            <a:endParaRPr lang="en-US" sz="1350" dirty="0"/>
          </a:p>
        </p:txBody>
      </p:sp>
      <p:sp>
        <p:nvSpPr>
          <p:cNvPr id="23" name="Text 5"/>
          <p:cNvSpPr/>
          <p:nvPr/>
        </p:nvSpPr>
        <p:spPr>
          <a:xfrm>
            <a:off x="990600" y="4229100"/>
            <a:ext cx="5029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Clinical Impact</a:t>
            </a:r>
            <a:endParaRPr lang="en-US" sz="1800" dirty="0"/>
          </a:p>
        </p:txBody>
      </p:sp>
      <p:sp>
        <p:nvSpPr>
          <p:cNvPr id="24" name="Text 6"/>
          <p:cNvSpPr/>
          <p:nvPr/>
        </p:nvSpPr>
        <p:spPr>
          <a:xfrm>
            <a:off x="742950" y="464820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Predicts time above therapeutic threshold</a:t>
            </a:r>
            <a:endParaRPr lang="en-US" sz="1350" dirty="0"/>
          </a:p>
        </p:txBody>
      </p:sp>
      <p:sp>
        <p:nvSpPr>
          <p:cNvPr id="25" name="Text 7"/>
          <p:cNvSpPr/>
          <p:nvPr/>
        </p:nvSpPr>
        <p:spPr>
          <a:xfrm>
            <a:off x="742950" y="502920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Identifies overdose risk with simple model</a:t>
            </a:r>
            <a:endParaRPr lang="en-US" sz="1350" dirty="0"/>
          </a:p>
        </p:txBody>
      </p:sp>
      <p:sp>
        <p:nvSpPr>
          <p:cNvPr id="26" name="Text 8"/>
          <p:cNvSpPr/>
          <p:nvPr/>
        </p:nvSpPr>
        <p:spPr>
          <a:xfrm>
            <a:off x="742950" y="541020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Supports safe and effective dosing decisions</a:t>
            </a:r>
            <a:endParaRPr lang="en-US" sz="1350" dirty="0"/>
          </a:p>
        </p:txBody>
      </p:sp>
      <p:sp>
        <p:nvSpPr>
          <p:cNvPr id="27" name="Text 9"/>
          <p:cNvSpPr/>
          <p:nvPr/>
        </p:nvSpPr>
        <p:spPr>
          <a:xfrm>
            <a:off x="6553200" y="2033588"/>
            <a:ext cx="48768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Mathematical Modeling in Drug Administration</a:t>
            </a:r>
            <a:endParaRPr lang="en-US" sz="1800" dirty="0"/>
          </a:p>
        </p:txBody>
      </p:sp>
      <p:sp>
        <p:nvSpPr>
          <p:cNvPr id="28" name="Text 10"/>
          <p:cNvSpPr/>
          <p:nvPr/>
        </p:nvSpPr>
        <p:spPr>
          <a:xfrm>
            <a:off x="6553200" y="3376613"/>
            <a:ext cx="16255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Mathematical
Model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9397901" y="3376613"/>
            <a:ext cx="16255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
Application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6553200" y="4062412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Despite its simplicity, the two-compartment model provides valuable insights into drug behavior.</a:t>
            </a:r>
            <a:endParaRPr lang="en-US" sz="1350" dirty="0"/>
          </a:p>
        </p:txBody>
      </p:sp>
      <p:sp>
        <p:nvSpPr>
          <p:cNvPr id="31" name="Text 13"/>
          <p:cNvSpPr/>
          <p:nvPr/>
        </p:nvSpPr>
        <p:spPr>
          <a:xfrm>
            <a:off x="6553200" y="4672013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6D7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Mathematical modeling </a:t>
            </a: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serves as a bridge between theory and clinical practice.</a:t>
            </a:r>
            <a:endParaRPr lang="en-US" sz="1350" dirty="0"/>
          </a:p>
        </p:txBody>
      </p:sp>
      <p:sp>
        <p:nvSpPr>
          <p:cNvPr id="32" name="Text 14"/>
          <p:cNvSpPr/>
          <p:nvPr/>
        </p:nvSpPr>
        <p:spPr>
          <a:xfrm>
            <a:off x="-670560" y="62103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"Mathematical models help clinicians make informed decisions about drug administration."</a:t>
            </a:r>
            <a:endParaRPr lang="en-US" sz="1500" dirty="0"/>
          </a:p>
        </p:txBody>
      </p:sp>
      <p:sp>
        <p:nvSpPr>
          <p:cNvPr id="33" name="Text 15"/>
          <p:cNvSpPr/>
          <p:nvPr/>
        </p:nvSpPr>
        <p:spPr>
          <a:xfrm>
            <a:off x="457200" y="6629400"/>
            <a:ext cx="560248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Modeling Lidocaine Dynamics Using a Two-Compartment ODE System</a:t>
            </a:r>
            <a:endParaRPr lang="en-US" sz="1050" dirty="0"/>
          </a:p>
        </p:txBody>
      </p:sp>
      <p:sp>
        <p:nvSpPr>
          <p:cNvPr id="34" name="Text 16"/>
          <p:cNvSpPr/>
          <p:nvPr/>
        </p:nvSpPr>
        <p:spPr>
          <a:xfrm>
            <a:off x="10311854" y="6629400"/>
            <a:ext cx="17075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 525 Final Project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1359</TotalTime>
  <Words>1568</Words>
  <Application>Microsoft Office PowerPoint</Application>
  <PresentationFormat>寬螢幕</PresentationFormat>
  <Paragraphs>183</Paragraphs>
  <Slides>10</Slides>
  <Notes>10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Droplet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Chen, Ting-Wei</cp:lastModifiedBy>
  <cp:revision>3</cp:revision>
  <cp:lastPrinted>2025-12-07T06:31:29Z</cp:lastPrinted>
  <dcterms:created xsi:type="dcterms:W3CDTF">2025-12-07T06:01:39Z</dcterms:created>
  <dcterms:modified xsi:type="dcterms:W3CDTF">2026-05-13T18:00:36Z</dcterms:modified>
</cp:coreProperties>
</file>